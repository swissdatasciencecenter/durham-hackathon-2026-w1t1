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57" r:id="rId4"/>
    <p:sldId id="258" r:id="rId5"/>
    <p:sldId id="268" r:id="rId6"/>
    <p:sldId id="259" r:id="rId7"/>
    <p:sldId id="264" r:id="rId8"/>
    <p:sldId id="267" r:id="rId9"/>
  </p:sldIdLst>
  <p:sldSz cx="18288000" cy="10287000"/>
  <p:notesSz cx="6858000" cy="9144000"/>
  <p:embeddedFontLst>
    <p:embeddedFont>
      <p:font typeface="Calmius Sans High Bold" pitchFamily="2" charset="77"/>
      <p:regular r:id="rId11"/>
      <p:bold r:id="rId12"/>
    </p:embeddedFont>
    <p:embeddedFont>
      <p:font typeface="Circe Bold" panose="020B0602020203020203" pitchFamily="34" charset="77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92" autoAdjust="0"/>
    <p:restoredTop sz="94612" autoAdjust="0"/>
  </p:normalViewPr>
  <p:slideViewPr>
    <p:cSldViewPr>
      <p:cViewPr varScale="1">
        <p:scale>
          <a:sx n="73" d="100"/>
          <a:sy n="73" d="100"/>
        </p:scale>
        <p:origin x="216" y="3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F39C2-A360-8D49-8C08-6C4CD5852B7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2798A-6F4C-504C-93FC-BED2C5477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8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2798A-6F4C-504C-93FC-BED2C54771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2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92798A-6F4C-504C-93FC-BED2C54771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80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000" y="-800100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2438400" y="5506355"/>
            <a:ext cx="3319056" cy="2425928"/>
          </a:xfrm>
          <a:custGeom>
            <a:avLst/>
            <a:gdLst/>
            <a:ahLst/>
            <a:cxnLst/>
            <a:rect l="l" t="t" r="r" b="b"/>
            <a:pathLst>
              <a:path w="3319056" h="2425928">
                <a:moveTo>
                  <a:pt x="0" y="0"/>
                </a:moveTo>
                <a:lnTo>
                  <a:pt x="3319056" y="0"/>
                </a:lnTo>
                <a:lnTo>
                  <a:pt x="3319056" y="2425928"/>
                </a:lnTo>
                <a:lnTo>
                  <a:pt x="0" y="24259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240586" y="1131878"/>
            <a:ext cx="3385533" cy="2714582"/>
          </a:xfrm>
          <a:custGeom>
            <a:avLst/>
            <a:gdLst/>
            <a:ahLst/>
            <a:cxnLst/>
            <a:rect l="l" t="t" r="r" b="b"/>
            <a:pathLst>
              <a:path w="3385533" h="2714582">
                <a:moveTo>
                  <a:pt x="0" y="0"/>
                </a:moveTo>
                <a:lnTo>
                  <a:pt x="3385533" y="0"/>
                </a:lnTo>
                <a:lnTo>
                  <a:pt x="3385533" y="2714582"/>
                </a:lnTo>
                <a:lnTo>
                  <a:pt x="0" y="27145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1329281" y="1099384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09009" y="1829502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7073" y="1099384"/>
            <a:ext cx="12536157" cy="2868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/>
            <a:r>
              <a:rPr lang="en-US" altLang="zh-TW" sz="12638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A2Q</a:t>
            </a:r>
            <a:r>
              <a:rPr lang="zh-TW" altLang="en-US" sz="12638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endParaRPr lang="en-US" altLang="zh-TW" sz="12638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  <a:p>
            <a:pPr marL="0" lvl="0" indent="0"/>
            <a:r>
              <a:rPr lang="en-US" altLang="zh-TW" sz="6000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Answer</a:t>
            </a:r>
            <a:r>
              <a:rPr lang="zh-TW" altLang="en-US" sz="6000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6000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Any</a:t>
            </a:r>
            <a:r>
              <a:rPr lang="zh-TW" altLang="en-US" sz="6000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6000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Question</a:t>
            </a:r>
            <a:endParaRPr lang="en-US" sz="6000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38133" y="9410138"/>
            <a:ext cx="5742829" cy="65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3"/>
              </a:lnSpc>
            </a:pPr>
            <a:r>
              <a:rPr lang="en-US" sz="2822" b="1" dirty="0">
                <a:solidFill>
                  <a:srgbClr val="34322B"/>
                </a:solidFill>
                <a:ea typeface="Circe Bold"/>
                <a:cs typeface="Circe Bold"/>
                <a:sym typeface="Circe Bold"/>
              </a:rPr>
              <a:t>SDSC x Durham University </a:t>
            </a:r>
          </a:p>
          <a:p>
            <a:pPr marL="0" lvl="0" indent="0" algn="ctr">
              <a:lnSpc>
                <a:spcPts val="2483"/>
              </a:lnSpc>
            </a:pPr>
            <a:r>
              <a:rPr lang="en-US" sz="2822" b="1" dirty="0">
                <a:solidFill>
                  <a:srgbClr val="34322B"/>
                </a:solidFill>
                <a:ea typeface="Circe Bold"/>
                <a:cs typeface="Circe Bold"/>
                <a:sym typeface="Circe Bold"/>
              </a:rPr>
              <a:t>Hackathon 202</a:t>
            </a:r>
            <a:r>
              <a:rPr lang="en-US" altLang="zh-TW" sz="2822" b="1" dirty="0">
                <a:solidFill>
                  <a:srgbClr val="34322B"/>
                </a:solidFill>
                <a:ea typeface="Circe Bold"/>
                <a:cs typeface="Circe Bold"/>
                <a:sym typeface="Circe Bold"/>
              </a:rPr>
              <a:t>6</a:t>
            </a:r>
            <a:r>
              <a:rPr lang="en-US" sz="2822" b="1" dirty="0">
                <a:solidFill>
                  <a:srgbClr val="34322B"/>
                </a:solidFill>
                <a:ea typeface="Circe Bold"/>
                <a:cs typeface="Circe Bold"/>
                <a:sym typeface="Circe 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87CBB-7071-3320-C10E-874C91CE510D}"/>
              </a:ext>
            </a:extLst>
          </p:cNvPr>
          <p:cNvSpPr txBox="1"/>
          <p:nvPr/>
        </p:nvSpPr>
        <p:spPr>
          <a:xfrm>
            <a:off x="11962738" y="7693935"/>
            <a:ext cx="5724644" cy="2600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22" b="1" dirty="0">
                <a:solidFill>
                  <a:srgbClr val="34322B"/>
                </a:solidFill>
                <a:latin typeface="Circe Bold"/>
              </a:rPr>
              <a:t>Group: Matterhorn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822" b="1" dirty="0">
                <a:solidFill>
                  <a:srgbClr val="34322B"/>
                </a:solidFill>
                <a:latin typeface="Circe Bold"/>
              </a:rPr>
              <a:t>Qazi Muhammad Ashhad Abbasi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822" b="1" dirty="0">
                <a:solidFill>
                  <a:srgbClr val="34322B"/>
                </a:solidFill>
                <a:latin typeface="Circe Bold"/>
              </a:rPr>
              <a:t>Neeharika Lalita </a:t>
            </a:r>
            <a:r>
              <a:rPr lang="en-US" sz="2822" b="1" dirty="0" err="1">
                <a:solidFill>
                  <a:srgbClr val="34322B"/>
                </a:solidFill>
                <a:latin typeface="Circe Bold"/>
              </a:rPr>
              <a:t>Va</a:t>
            </a:r>
            <a:r>
              <a:rPr lang="en-US" altLang="zh-TW" sz="2822" b="1" dirty="0" err="1">
                <a:solidFill>
                  <a:srgbClr val="34322B"/>
                </a:solidFill>
                <a:latin typeface="Circe Bold"/>
              </a:rPr>
              <a:t>j</a:t>
            </a:r>
            <a:r>
              <a:rPr lang="en-US" sz="2822" b="1" dirty="0" err="1">
                <a:solidFill>
                  <a:srgbClr val="34322B"/>
                </a:solidFill>
                <a:latin typeface="Circe Bold"/>
              </a:rPr>
              <a:t>jhala</a:t>
            </a:r>
            <a:endParaRPr lang="en-US" sz="2822" b="1" dirty="0">
              <a:solidFill>
                <a:srgbClr val="34322B"/>
              </a:solidFill>
              <a:latin typeface="Circe Bold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22" b="1" dirty="0">
                <a:solidFill>
                  <a:srgbClr val="34322B"/>
                </a:solidFill>
                <a:latin typeface="Circe Bold"/>
              </a:rPr>
              <a:t>Yu-Shuan </a:t>
            </a:r>
            <a:r>
              <a:rPr lang="en-US" altLang="zh-TW" sz="2822" b="1" dirty="0">
                <a:solidFill>
                  <a:srgbClr val="34322B"/>
                </a:solidFill>
                <a:latin typeface="Circe Bold"/>
              </a:rPr>
              <a:t>Su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0C7D7409-6665-C5E5-593D-ED140398CD5D}"/>
              </a:ext>
            </a:extLst>
          </p:cNvPr>
          <p:cNvSpPr/>
          <p:nvPr/>
        </p:nvSpPr>
        <p:spPr>
          <a:xfrm>
            <a:off x="1651797" y="3967541"/>
            <a:ext cx="10192446" cy="43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4322B"/>
                </a:solidFill>
              </a:rPr>
              <a:t>A Retrieval-Based QA Pipeline for Complex PDF</a:t>
            </a:r>
            <a:r>
              <a:rPr lang="en-US" altLang="zh-TW" sz="3200" b="1" dirty="0">
                <a:solidFill>
                  <a:srgbClr val="34322B"/>
                </a:solidFill>
              </a:rPr>
              <a:t>s</a:t>
            </a:r>
            <a:endParaRPr lang="en-US" sz="3200" b="1" dirty="0">
              <a:solidFill>
                <a:srgbClr val="34322B"/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A545F096-45C1-D132-397A-E5B8A5F19432}"/>
              </a:ext>
            </a:extLst>
          </p:cNvPr>
          <p:cNvSpPr/>
          <p:nvPr/>
        </p:nvSpPr>
        <p:spPr>
          <a:xfrm>
            <a:off x="11962738" y="5035510"/>
            <a:ext cx="5473923" cy="2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altLang="zh-TW" sz="6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40</a:t>
            </a:r>
          </a:p>
          <a:p>
            <a:pPr marL="0" indent="0">
              <a:buNone/>
            </a:pPr>
            <a:r>
              <a:rPr lang="en-US" altLang="zh-TW" sz="4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questions</a:t>
            </a:r>
            <a:r>
              <a:rPr lang="zh-TW" altLang="en-US" sz="4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correct</a:t>
            </a:r>
            <a:r>
              <a:rPr lang="zh-TW" altLang="en-US" sz="44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A1BD7-3901-03DA-0140-9C81B0E5B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22B65A8D-7832-1A42-6B8F-26A486695DE8}"/>
              </a:ext>
            </a:extLst>
          </p:cNvPr>
          <p:cNvGrpSpPr/>
          <p:nvPr/>
        </p:nvGrpSpPr>
        <p:grpSpPr>
          <a:xfrm>
            <a:off x="-447336" y="-190500"/>
            <a:ext cx="19182672" cy="10582267"/>
            <a:chOff x="0" y="0"/>
            <a:chExt cx="5052226" cy="1690718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16201800-5160-75C5-5CA3-BAA2149FC54D}"/>
                </a:ext>
              </a:extLst>
            </p:cNvPr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DB516FBD-C04E-1C17-BC0A-12027E39650B}"/>
                </a:ext>
              </a:extLst>
            </p:cNvPr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2" name="Freeform 2">
            <a:extLst>
              <a:ext uri="{FF2B5EF4-FFF2-40B4-BE49-F238E27FC236}">
                <a16:creationId xmlns:a16="http://schemas.microsoft.com/office/drawing/2014/main" id="{A695D3D8-13BF-BEC6-0C8D-05FD1E724458}"/>
              </a:ext>
            </a:extLst>
          </p:cNvPr>
          <p:cNvSpPr/>
          <p:nvPr/>
        </p:nvSpPr>
        <p:spPr>
          <a:xfrm>
            <a:off x="-1447800" y="-919380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AE232E-985C-5310-6A42-E6490BCA4F0C}"/>
              </a:ext>
            </a:extLst>
          </p:cNvPr>
          <p:cNvSpPr txBox="1"/>
          <p:nvPr/>
        </p:nvSpPr>
        <p:spPr>
          <a:xfrm>
            <a:off x="2266950" y="1479690"/>
            <a:ext cx="13754100" cy="1230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3"/>
              </a:lnSpc>
            </a:pP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Project</a:t>
            </a:r>
            <a:r>
              <a:rPr lang="zh-TW" altLang="en-US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Aim</a:t>
            </a:r>
            <a:endParaRPr lang="en-US" sz="9992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4EE114-E2B7-9F74-DA2E-D3933AC96393}"/>
              </a:ext>
            </a:extLst>
          </p:cNvPr>
          <p:cNvGrpSpPr/>
          <p:nvPr/>
        </p:nvGrpSpPr>
        <p:grpSpPr>
          <a:xfrm>
            <a:off x="11701334" y="-1350500"/>
            <a:ext cx="2357981" cy="2357981"/>
            <a:chOff x="0" y="0"/>
            <a:chExt cx="673100" cy="6731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85B60E9-B348-9277-A081-AABE1190C73F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FD688AA-EB4F-CCA7-1191-99FDAF9B75BD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25" name="Text 6">
            <a:extLst>
              <a:ext uri="{FF2B5EF4-FFF2-40B4-BE49-F238E27FC236}">
                <a16:creationId xmlns:a16="http://schemas.microsoft.com/office/drawing/2014/main" id="{FC2FF6F1-0EBF-B701-8A33-560D40F4F499}"/>
              </a:ext>
            </a:extLst>
          </p:cNvPr>
          <p:cNvSpPr/>
          <p:nvPr/>
        </p:nvSpPr>
        <p:spPr>
          <a:xfrm>
            <a:off x="2266950" y="1987819"/>
            <a:ext cx="12744379" cy="265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Build a question</a:t>
            </a:r>
            <a:r>
              <a:rPr lang="zh-TW" altLang="en-US" sz="360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GB" altLang="zh-TW" sz="360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answering </a:t>
            </a: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system that makes complex documents searchable and accessible to an LLM.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AC55FA30-7BFB-F555-8CF0-09E3F4D120B6}"/>
              </a:ext>
            </a:extLst>
          </p:cNvPr>
          <p:cNvGrpSpPr/>
          <p:nvPr/>
        </p:nvGrpSpPr>
        <p:grpSpPr>
          <a:xfrm>
            <a:off x="902148" y="9410700"/>
            <a:ext cx="2357981" cy="2357981"/>
            <a:chOff x="0" y="0"/>
            <a:chExt cx="673100" cy="673100"/>
          </a:xfrm>
        </p:grpSpPr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837E0142-BCB3-C097-6B98-F4771BAEA967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12">
              <a:extLst>
                <a:ext uri="{FF2B5EF4-FFF2-40B4-BE49-F238E27FC236}">
                  <a16:creationId xmlns:a16="http://schemas.microsoft.com/office/drawing/2014/main" id="{A5D82475-D8A6-70A6-4A24-CEA5BD04F52B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3" name="TextBox 4">
            <a:extLst>
              <a:ext uri="{FF2B5EF4-FFF2-40B4-BE49-F238E27FC236}">
                <a16:creationId xmlns:a16="http://schemas.microsoft.com/office/drawing/2014/main" id="{3EB51A4A-5D03-1612-3225-E1557F85C0F7}"/>
              </a:ext>
            </a:extLst>
          </p:cNvPr>
          <p:cNvSpPr txBox="1"/>
          <p:nvPr/>
        </p:nvSpPr>
        <p:spPr>
          <a:xfrm>
            <a:off x="2266950" y="4675438"/>
            <a:ext cx="13754100" cy="1230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3"/>
              </a:lnSpc>
            </a:pP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Objectives</a:t>
            </a:r>
            <a:endParaRPr lang="en-US" sz="9992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7E41F60-56F0-6041-A949-0B621097EA76}"/>
              </a:ext>
            </a:extLst>
          </p:cNvPr>
          <p:cNvSpPr/>
          <p:nvPr/>
        </p:nvSpPr>
        <p:spPr>
          <a:xfrm>
            <a:off x="2285761" y="5836529"/>
            <a:ext cx="12744379" cy="265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GB" altLang="zh-TW" sz="36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Extract information from text and non-text document content.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Make structured and unstructured data searchable.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Retrieve relevant evidence for each question.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Generate answers from the provided documents.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altLang="zh-TW" sz="36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Handle complex content such as tables, charts, images, footnotes, and acronyms.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7BC8E1B-7F4F-F656-7C55-7BC73FAE6729}"/>
              </a:ext>
            </a:extLst>
          </p:cNvPr>
          <p:cNvSpPr/>
          <p:nvPr/>
        </p:nvSpPr>
        <p:spPr>
          <a:xfrm>
            <a:off x="2419350" y="1404323"/>
            <a:ext cx="12744379" cy="265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GB" altLang="zh-TW" sz="36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673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48649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-750908" y="5399815"/>
            <a:ext cx="19182672" cy="5343129"/>
            <a:chOff x="0" y="0"/>
            <a:chExt cx="5052226" cy="16907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70499" y="1859529"/>
            <a:ext cx="3008456" cy="2815951"/>
          </a:xfrm>
          <a:custGeom>
            <a:avLst/>
            <a:gdLst/>
            <a:ahLst/>
            <a:cxnLst/>
            <a:rect l="l" t="t" r="r" b="b"/>
            <a:pathLst>
              <a:path w="3008456" h="2815951">
                <a:moveTo>
                  <a:pt x="0" y="0"/>
                </a:moveTo>
                <a:lnTo>
                  <a:pt x="3008457" y="0"/>
                </a:lnTo>
                <a:lnTo>
                  <a:pt x="3008457" y="2815951"/>
                </a:lnTo>
                <a:lnTo>
                  <a:pt x="0" y="2815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864638" y="1672882"/>
            <a:ext cx="3226516" cy="2642997"/>
          </a:xfrm>
          <a:custGeom>
            <a:avLst/>
            <a:gdLst/>
            <a:ahLst/>
            <a:cxnLst/>
            <a:rect l="l" t="t" r="r" b="b"/>
            <a:pathLst>
              <a:path w="3226516" h="2642997">
                <a:moveTo>
                  <a:pt x="0" y="0"/>
                </a:moveTo>
                <a:lnTo>
                  <a:pt x="3226516" y="0"/>
                </a:lnTo>
                <a:lnTo>
                  <a:pt x="3226516" y="2642997"/>
                </a:lnTo>
                <a:lnTo>
                  <a:pt x="0" y="2642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588969" y="1253093"/>
            <a:ext cx="13601956" cy="1231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What</a:t>
            </a:r>
            <a:r>
              <a:rPr lang="zh-TW" altLang="en-US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we</a:t>
            </a:r>
            <a:r>
              <a:rPr lang="zh-TW" altLang="en-US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worked</a:t>
            </a:r>
            <a:r>
              <a:rPr lang="zh-TW" altLang="en-US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with</a:t>
            </a:r>
            <a:endParaRPr lang="en-US" sz="9999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A901BB30-735C-4B4B-69C1-7A7BEA09F41D}"/>
              </a:ext>
            </a:extLst>
          </p:cNvPr>
          <p:cNvSpPr/>
          <p:nvPr/>
        </p:nvSpPr>
        <p:spPr>
          <a:xfrm>
            <a:off x="4530135" y="280830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8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25D65744-1E49-05F6-BA43-671F24FFC16C}"/>
              </a:ext>
            </a:extLst>
          </p:cNvPr>
          <p:cNvSpPr/>
          <p:nvPr/>
        </p:nvSpPr>
        <p:spPr>
          <a:xfrm>
            <a:off x="7193499" y="2784275"/>
            <a:ext cx="3008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8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r>
              <a:rPr lang="en-US" altLang="zh-TW" sz="138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22ABACED-CA11-F863-827C-79B5A820A1F5}"/>
              </a:ext>
            </a:extLst>
          </p:cNvPr>
          <p:cNvSpPr/>
          <p:nvPr/>
        </p:nvSpPr>
        <p:spPr>
          <a:xfrm>
            <a:off x="11045151" y="277345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8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C2012ED9-D2D7-74BA-5C99-6F937EDFE24F}"/>
              </a:ext>
            </a:extLst>
          </p:cNvPr>
          <p:cNvSpPr/>
          <p:nvPr/>
        </p:nvSpPr>
        <p:spPr>
          <a:xfrm>
            <a:off x="4017055" y="443876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B94DDA1D-CBC6-2D21-89BB-BBE5570EAD39}"/>
              </a:ext>
            </a:extLst>
          </p:cNvPr>
          <p:cNvSpPr/>
          <p:nvPr/>
        </p:nvSpPr>
        <p:spPr>
          <a:xfrm>
            <a:off x="7466758" y="4482267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F2F677D9-DB72-E9D9-E045-F11205B1403E}"/>
              </a:ext>
            </a:extLst>
          </p:cNvPr>
          <p:cNvSpPr/>
          <p:nvPr/>
        </p:nvSpPr>
        <p:spPr>
          <a:xfrm>
            <a:off x="11045151" y="4494307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36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Questions</a:t>
            </a:r>
            <a:endParaRPr 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4B5CC0CB-0A0F-A4BE-ADEF-8208C6CC22E9}"/>
              </a:ext>
            </a:extLst>
          </p:cNvPr>
          <p:cNvSpPr/>
          <p:nvPr/>
        </p:nvSpPr>
        <p:spPr>
          <a:xfrm>
            <a:off x="2474727" y="627229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</a:t>
            </a:r>
            <a:endParaRPr lang="en-US" sz="4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2968B386-8C58-704D-15D6-3BA495100CD1}"/>
              </a:ext>
            </a:extLst>
          </p:cNvPr>
          <p:cNvSpPr/>
          <p:nvPr/>
        </p:nvSpPr>
        <p:spPr>
          <a:xfrm>
            <a:off x="2208116" y="7233340"/>
            <a:ext cx="5266262" cy="3086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Paragraph text</a:t>
            </a:r>
          </a:p>
          <a:p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r>
              <a:rPr lang="zh-TW" alt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zh-TW" alt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4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B9035F58-11F1-B6C9-00BF-F80A87FC80FC}"/>
              </a:ext>
            </a:extLst>
          </p:cNvPr>
          <p:cNvSpPr/>
          <p:nvPr/>
        </p:nvSpPr>
        <p:spPr>
          <a:xfrm>
            <a:off x="8840428" y="7312752"/>
            <a:ext cx="5266262" cy="3086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Acronyms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r>
              <a:rPr lang="zh-TW" altLang="en-US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4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4400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4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8788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11919" y="1429591"/>
            <a:ext cx="16021050" cy="1230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3"/>
              </a:lnSpc>
            </a:pP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What</a:t>
            </a:r>
            <a:r>
              <a:rPr lang="zh-TW" altLang="en-US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made</a:t>
            </a:r>
            <a:r>
              <a:rPr lang="zh-TW" altLang="en-US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this</a:t>
            </a:r>
            <a:r>
              <a:rPr lang="zh-TW" altLang="en-US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2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difficult</a:t>
            </a:r>
            <a:endParaRPr lang="en-US" sz="9992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310892" y="-1329281"/>
            <a:ext cx="2357981" cy="2357981"/>
            <a:chOff x="0" y="0"/>
            <a:chExt cx="673100" cy="673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31" name="Group 3">
            <a:extLst>
              <a:ext uri="{FF2B5EF4-FFF2-40B4-BE49-F238E27FC236}">
                <a16:creationId xmlns:a16="http://schemas.microsoft.com/office/drawing/2014/main" id="{AB7C22F5-B585-D147-4870-8FC47E844329}"/>
              </a:ext>
            </a:extLst>
          </p:cNvPr>
          <p:cNvGrpSpPr/>
          <p:nvPr/>
        </p:nvGrpSpPr>
        <p:grpSpPr>
          <a:xfrm>
            <a:off x="-609600" y="2987806"/>
            <a:ext cx="19182672" cy="7413494"/>
            <a:chOff x="0" y="0"/>
            <a:chExt cx="5052226" cy="1690718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1734575A-8A05-A54F-ACC7-A37A0FB7A5A4}"/>
                </a:ext>
              </a:extLst>
            </p:cNvPr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FF1EC294-1878-E765-1138-7D548A66070F}"/>
                </a:ext>
              </a:extLst>
            </p:cNvPr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9748" y="9258300"/>
            <a:ext cx="2357981" cy="2357981"/>
            <a:chOff x="0" y="0"/>
            <a:chExt cx="673100" cy="673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4" name="Text 1">
            <a:extLst>
              <a:ext uri="{FF2B5EF4-FFF2-40B4-BE49-F238E27FC236}">
                <a16:creationId xmlns:a16="http://schemas.microsoft.com/office/drawing/2014/main" id="{F57A8088-BFA3-BCAE-B7C2-BB0BD7D772F4}"/>
              </a:ext>
            </a:extLst>
          </p:cNvPr>
          <p:cNvSpPr/>
          <p:nvPr/>
        </p:nvSpPr>
        <p:spPr>
          <a:xfrm>
            <a:off x="1600200" y="3414248"/>
            <a:ext cx="49534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C888FDA-1710-F348-CD30-8AD9D2AB9A01}"/>
              </a:ext>
            </a:extLst>
          </p:cNvPr>
          <p:cNvSpPr/>
          <p:nvPr/>
        </p:nvSpPr>
        <p:spPr>
          <a:xfrm>
            <a:off x="10365444" y="3473566"/>
            <a:ext cx="5659007" cy="51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EC00ADC-1EB3-415E-4235-71379D7DD86F}"/>
              </a:ext>
            </a:extLst>
          </p:cNvPr>
          <p:cNvSpPr/>
          <p:nvPr/>
        </p:nvSpPr>
        <p:spPr>
          <a:xfrm>
            <a:off x="1600200" y="5309279"/>
            <a:ext cx="5156087" cy="80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Questions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0467144-C403-65EF-02B8-0AA6BBB5FCC9}"/>
              </a:ext>
            </a:extLst>
          </p:cNvPr>
          <p:cNvSpPr/>
          <p:nvPr/>
        </p:nvSpPr>
        <p:spPr>
          <a:xfrm>
            <a:off x="10365444" y="5425053"/>
            <a:ext cx="6497207" cy="51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Pages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802A8E36-1013-F6E4-0F6F-E50974C359B9}"/>
              </a:ext>
            </a:extLst>
          </p:cNvPr>
          <p:cNvSpPr/>
          <p:nvPr/>
        </p:nvSpPr>
        <p:spPr>
          <a:xfrm>
            <a:off x="1600200" y="7401531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Acronyms &amp; Terms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5CC509A0-6D2E-DC62-E820-B3C12E03BCFA}"/>
              </a:ext>
            </a:extLst>
          </p:cNvPr>
          <p:cNvSpPr/>
          <p:nvPr/>
        </p:nvSpPr>
        <p:spPr>
          <a:xfrm>
            <a:off x="1600200" y="4252395"/>
            <a:ext cx="68510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Computably expensive to send all to an LLM. </a:t>
            </a:r>
          </a:p>
          <a:p>
            <a:pPr marL="0" indent="0" algn="l">
              <a:buNone/>
            </a:pP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C0B2ABE4-A46E-9913-9C50-054017C2906F}"/>
              </a:ext>
            </a:extLst>
          </p:cNvPr>
          <p:cNvSpPr/>
          <p:nvPr/>
        </p:nvSpPr>
        <p:spPr>
          <a:xfrm>
            <a:off x="1600200" y="6090182"/>
            <a:ext cx="7622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Some answers only exist inside charts and figures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D1D9A08E-2CD5-1755-B7D6-CF6077F02E0C}"/>
              </a:ext>
            </a:extLst>
          </p:cNvPr>
          <p:cNvSpPr/>
          <p:nvPr/>
        </p:nvSpPr>
        <p:spPr>
          <a:xfrm>
            <a:off x="1674156" y="8075760"/>
            <a:ext cx="7622244" cy="80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BM25 fails when question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used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abbreviation.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8D6DA7FF-2045-516F-92AF-AED66E05266A}"/>
              </a:ext>
            </a:extLst>
          </p:cNvPr>
          <p:cNvSpPr/>
          <p:nvPr/>
        </p:nvSpPr>
        <p:spPr>
          <a:xfrm>
            <a:off x="10365444" y="4080883"/>
            <a:ext cx="73891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Text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, tables, charts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&amp;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images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each need different hand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ling.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5DC44982-DB30-34E0-FB30-D6EB51B346CA}"/>
              </a:ext>
            </a:extLst>
          </p:cNvPr>
          <p:cNvSpPr/>
          <p:nvPr/>
        </p:nvSpPr>
        <p:spPr>
          <a:xfrm>
            <a:off x="10411029" y="6306838"/>
            <a:ext cx="73435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Rotated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visual caused vision model to misread axes.</a:t>
            </a:r>
          </a:p>
          <a:p>
            <a:pPr marL="0" indent="0" algn="l">
              <a:buNone/>
            </a:pPr>
            <a:endParaRPr lang="en-US" sz="28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E5E1A948-BCB2-D060-488E-E832A2A72487}"/>
              </a:ext>
            </a:extLst>
          </p:cNvPr>
          <p:cNvSpPr/>
          <p:nvPr/>
        </p:nvSpPr>
        <p:spPr>
          <a:xfrm>
            <a:off x="10380684" y="7333497"/>
            <a:ext cx="6497207" cy="518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altLang="zh-TW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</a:t>
            </a:r>
            <a:r>
              <a:rPr lang="zh-TW" alt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r>
              <a:rPr lang="zh-TW" alt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E0DBF72F-3641-6274-94BE-E2C20C5D9C50}"/>
              </a:ext>
            </a:extLst>
          </p:cNvPr>
          <p:cNvSpPr/>
          <p:nvPr/>
        </p:nvSpPr>
        <p:spPr>
          <a:xfrm>
            <a:off x="10388236" y="8075760"/>
            <a:ext cx="73891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Some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questions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needed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answers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to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be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sourced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from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text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and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visuals</a:t>
            </a:r>
            <a:r>
              <a:rPr lang="zh-TW" altLang="en-US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28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together.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86B6B-A8DD-D482-B454-E36C961BC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E095E4-9FF7-E190-3448-4BCDA35B83A1}"/>
              </a:ext>
            </a:extLst>
          </p:cNvPr>
          <p:cNvSpPr/>
          <p:nvPr/>
        </p:nvSpPr>
        <p:spPr>
          <a:xfrm>
            <a:off x="-1676400" y="-1009720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FF6287-35FB-A5BC-506F-E5BCBC1C04CA}"/>
              </a:ext>
            </a:extLst>
          </p:cNvPr>
          <p:cNvSpPr txBox="1"/>
          <p:nvPr/>
        </p:nvSpPr>
        <p:spPr>
          <a:xfrm>
            <a:off x="8361685" y="1757275"/>
            <a:ext cx="9392915" cy="2359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799"/>
              </a:lnSpc>
            </a:pP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Challenger</a:t>
            </a:r>
            <a:r>
              <a:rPr lang="zh-TW" altLang="en-US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Approach</a:t>
            </a:r>
            <a:endParaRPr lang="en-US" sz="9999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8EB9672-C51B-CD91-FEA1-4859D5C70461}"/>
              </a:ext>
            </a:extLst>
          </p:cNvPr>
          <p:cNvGrpSpPr/>
          <p:nvPr/>
        </p:nvGrpSpPr>
        <p:grpSpPr>
          <a:xfrm>
            <a:off x="0" y="-190501"/>
            <a:ext cx="10561030" cy="10477501"/>
            <a:chOff x="0" y="0"/>
            <a:chExt cx="2547719" cy="325839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45364BA-984C-11BC-ACDF-DD3770C2B27A}"/>
                </a:ext>
              </a:extLst>
            </p:cNvPr>
            <p:cNvSpPr/>
            <p:nvPr/>
          </p:nvSpPr>
          <p:spPr>
            <a:xfrm>
              <a:off x="0" y="0"/>
              <a:ext cx="2547719" cy="3258393"/>
            </a:xfrm>
            <a:custGeom>
              <a:avLst/>
              <a:gdLst/>
              <a:ahLst/>
              <a:cxnLst/>
              <a:rect l="l" t="t" r="r" b="b"/>
              <a:pathLst>
                <a:path w="2547719" h="3258393">
                  <a:moveTo>
                    <a:pt x="0" y="0"/>
                  </a:moveTo>
                  <a:lnTo>
                    <a:pt x="2547719" y="0"/>
                  </a:lnTo>
                  <a:lnTo>
                    <a:pt x="2547719" y="3258393"/>
                  </a:lnTo>
                  <a:lnTo>
                    <a:pt x="0" y="3258393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FD52D65-25E6-3BAE-5368-382D98393833}"/>
                </a:ext>
              </a:extLst>
            </p:cNvPr>
            <p:cNvSpPr txBox="1"/>
            <p:nvPr/>
          </p:nvSpPr>
          <p:spPr>
            <a:xfrm>
              <a:off x="0" y="76200"/>
              <a:ext cx="2547718" cy="3182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95749B2-7873-2309-D74E-3A91AFCED8D3}"/>
              </a:ext>
            </a:extLst>
          </p:cNvPr>
          <p:cNvGrpSpPr/>
          <p:nvPr/>
        </p:nvGrpSpPr>
        <p:grpSpPr>
          <a:xfrm>
            <a:off x="17259300" y="6900319"/>
            <a:ext cx="2357981" cy="2357981"/>
            <a:chOff x="0" y="0"/>
            <a:chExt cx="673100" cy="6731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233F6F8-B816-8754-55E2-593067770245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205EC88-E6DD-2B94-EE52-5D07B49AAEF5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3" name="Freeform 3">
            <a:extLst>
              <a:ext uri="{FF2B5EF4-FFF2-40B4-BE49-F238E27FC236}">
                <a16:creationId xmlns:a16="http://schemas.microsoft.com/office/drawing/2014/main" id="{EDCA2E4B-2972-8709-B7CB-A7EABB980435}"/>
              </a:ext>
            </a:extLst>
          </p:cNvPr>
          <p:cNvSpPr/>
          <p:nvPr/>
        </p:nvSpPr>
        <p:spPr>
          <a:xfrm>
            <a:off x="11852944" y="4884880"/>
            <a:ext cx="5117170" cy="3644845"/>
          </a:xfrm>
          <a:custGeom>
            <a:avLst/>
            <a:gdLst/>
            <a:ahLst/>
            <a:cxnLst/>
            <a:rect l="l" t="t" r="r" b="b"/>
            <a:pathLst>
              <a:path w="8010660" h="5228776">
                <a:moveTo>
                  <a:pt x="0" y="0"/>
                </a:moveTo>
                <a:lnTo>
                  <a:pt x="8010660" y="0"/>
                </a:lnTo>
                <a:lnTo>
                  <a:pt x="8010660" y="5228776"/>
                </a:lnTo>
                <a:lnTo>
                  <a:pt x="0" y="5228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06D90A-4B40-2242-8E4D-F455DF2D16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8309"/>
          <a:stretch>
            <a:fillRect/>
          </a:stretch>
        </p:blipFill>
        <p:spPr>
          <a:xfrm>
            <a:off x="72684" y="1964487"/>
            <a:ext cx="11346835" cy="635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8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25680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8077200" y="1758515"/>
            <a:ext cx="9392915" cy="2359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799"/>
              </a:lnSpc>
            </a:pP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Champion</a:t>
            </a:r>
            <a:r>
              <a:rPr lang="zh-TW" altLang="en-US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 </a:t>
            </a: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Approach</a:t>
            </a:r>
            <a:endParaRPr lang="en-US" sz="9999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-731226" y="-885912"/>
            <a:ext cx="11323030" cy="12371711"/>
            <a:chOff x="0" y="0"/>
            <a:chExt cx="2547719" cy="3258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7719" cy="3258393"/>
            </a:xfrm>
            <a:custGeom>
              <a:avLst/>
              <a:gdLst/>
              <a:ahLst/>
              <a:cxnLst/>
              <a:rect l="l" t="t" r="r" b="b"/>
              <a:pathLst>
                <a:path w="2547719" h="3258393">
                  <a:moveTo>
                    <a:pt x="0" y="0"/>
                  </a:moveTo>
                  <a:lnTo>
                    <a:pt x="2547719" y="0"/>
                  </a:lnTo>
                  <a:lnTo>
                    <a:pt x="2547719" y="3258393"/>
                  </a:lnTo>
                  <a:lnTo>
                    <a:pt x="0" y="3258393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6200"/>
              <a:ext cx="2547718" cy="3182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6900319"/>
            <a:ext cx="2357981" cy="2357981"/>
            <a:chOff x="0" y="0"/>
            <a:chExt cx="673100" cy="673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FD2638D-8F95-0B26-CF49-2F53A65C13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933"/>
          <a:stretch>
            <a:fillRect/>
          </a:stretch>
        </p:blipFill>
        <p:spPr>
          <a:xfrm>
            <a:off x="394528" y="501168"/>
            <a:ext cx="10195413" cy="9284664"/>
          </a:xfrm>
          <a:prstGeom prst="rect">
            <a:avLst/>
          </a:prstGeom>
        </p:spPr>
      </p:pic>
      <p:sp>
        <p:nvSpPr>
          <p:cNvPr id="19" name="Freeform 3">
            <a:extLst>
              <a:ext uri="{FF2B5EF4-FFF2-40B4-BE49-F238E27FC236}">
                <a16:creationId xmlns:a16="http://schemas.microsoft.com/office/drawing/2014/main" id="{5D25C78A-1558-19AF-FF23-0C881B71C529}"/>
              </a:ext>
            </a:extLst>
          </p:cNvPr>
          <p:cNvSpPr/>
          <p:nvPr/>
        </p:nvSpPr>
        <p:spPr>
          <a:xfrm>
            <a:off x="11591840" y="4907691"/>
            <a:ext cx="5378274" cy="3985255"/>
          </a:xfrm>
          <a:custGeom>
            <a:avLst/>
            <a:gdLst/>
            <a:ahLst/>
            <a:cxnLst/>
            <a:rect l="l" t="t" r="r" b="b"/>
            <a:pathLst>
              <a:path w="7743736" h="5923958">
                <a:moveTo>
                  <a:pt x="0" y="0"/>
                </a:moveTo>
                <a:lnTo>
                  <a:pt x="7743737" y="0"/>
                </a:lnTo>
                <a:lnTo>
                  <a:pt x="7743737" y="5923958"/>
                </a:lnTo>
                <a:lnTo>
                  <a:pt x="0" y="5923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3903B-0812-FF3D-3FA5-542FD58A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72EFB2-CB3C-7B60-F951-66174E1E735C}"/>
              </a:ext>
            </a:extLst>
          </p:cNvPr>
          <p:cNvSpPr/>
          <p:nvPr/>
        </p:nvSpPr>
        <p:spPr>
          <a:xfrm>
            <a:off x="-1579733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E45702-E675-C075-91E1-EBC98FD0C539}"/>
              </a:ext>
            </a:extLst>
          </p:cNvPr>
          <p:cNvGrpSpPr/>
          <p:nvPr/>
        </p:nvGrpSpPr>
        <p:grpSpPr>
          <a:xfrm>
            <a:off x="-750908" y="3329450"/>
            <a:ext cx="19182672" cy="7413494"/>
            <a:chOff x="0" y="0"/>
            <a:chExt cx="5052226" cy="169071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73C3385-67AC-77F9-7382-936753DDCA02}"/>
                </a:ext>
              </a:extLst>
            </p:cNvPr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CB479D7-97CB-E98D-B96D-ED51C495D8BD}"/>
                </a:ext>
              </a:extLst>
            </p:cNvPr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1C8AEA1-6C03-A356-75EB-5CFAB2A3E281}"/>
              </a:ext>
            </a:extLst>
          </p:cNvPr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AEB33E4-8F9D-E2D2-274B-037C6A86C8E7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E171307-D47F-028E-BACF-7001FCBF35D3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2E48070-11CC-6FB0-0C14-36E85BF51550}"/>
              </a:ext>
            </a:extLst>
          </p:cNvPr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41C244C-A0DA-B8FF-DCB4-0CF363F7C0C6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D57BFF9-92CB-5680-EAA7-DE869F614C25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1A0902D6-135C-F0C8-A694-C5F87E834548}"/>
              </a:ext>
            </a:extLst>
          </p:cNvPr>
          <p:cNvSpPr txBox="1"/>
          <p:nvPr/>
        </p:nvSpPr>
        <p:spPr>
          <a:xfrm>
            <a:off x="2588969" y="1253093"/>
            <a:ext cx="13601956" cy="1231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altLang="zh-TW" sz="9999" b="1" dirty="0">
                <a:solidFill>
                  <a:srgbClr val="34322B"/>
                </a:solidFill>
                <a:latin typeface="Calmius Sans High Bold"/>
                <a:ea typeface="Calmius Sans High Bold"/>
                <a:cs typeface="Calmius Sans High Bold"/>
                <a:sym typeface="Calmius Sans High Bold"/>
              </a:rPr>
              <a:t>Improvements</a:t>
            </a:r>
            <a:endParaRPr lang="en-US" sz="9999" b="1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0BA9BE62-51A8-DAFC-6B79-01D9262782CB}"/>
              </a:ext>
            </a:extLst>
          </p:cNvPr>
          <p:cNvSpPr/>
          <p:nvPr/>
        </p:nvSpPr>
        <p:spPr>
          <a:xfrm>
            <a:off x="4530135" y="280830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8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235C8E-639F-DD7F-4082-D5BB08DE98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430"/>
          <a:stretch>
            <a:fillRect/>
          </a:stretch>
        </p:blipFill>
        <p:spPr>
          <a:xfrm>
            <a:off x="228600" y="3496102"/>
            <a:ext cx="9448801" cy="668243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252573-0E44-6C83-B792-F5F60B1679DA}"/>
              </a:ext>
            </a:extLst>
          </p:cNvPr>
          <p:cNvSpPr txBox="1"/>
          <p:nvPr/>
        </p:nvSpPr>
        <p:spPr>
          <a:xfrm>
            <a:off x="11463782" y="5174272"/>
            <a:ext cx="5452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schemeClr val="accent2">
                    <a:lumMod val="50000"/>
                  </a:schemeClr>
                </a:solidFill>
              </a:rPr>
              <a:t>Brute</a:t>
            </a:r>
            <a:r>
              <a:rPr lang="zh-TW" altLang="en-US" sz="4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4400" b="1" dirty="0">
                <a:solidFill>
                  <a:schemeClr val="accent2">
                    <a:lumMod val="50000"/>
                  </a:schemeClr>
                </a:solidFill>
              </a:rPr>
              <a:t>Force</a:t>
            </a:r>
            <a:r>
              <a:rPr lang="zh-TW" altLang="en-US" sz="4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4400" b="1" dirty="0">
                <a:solidFill>
                  <a:schemeClr val="accent2">
                    <a:lumMod val="50000"/>
                  </a:schemeClr>
                </a:solidFill>
              </a:rPr>
              <a:t>Approach</a:t>
            </a:r>
            <a:endParaRPr lang="en-US" sz="4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DF1B66F-EDC7-FC03-9395-61AD36BCFF6F}"/>
              </a:ext>
            </a:extLst>
          </p:cNvPr>
          <p:cNvSpPr/>
          <p:nvPr/>
        </p:nvSpPr>
        <p:spPr>
          <a:xfrm>
            <a:off x="10439400" y="6541216"/>
            <a:ext cx="4953000" cy="2287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altLang="zh-TW" sz="13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80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D7994CA-CD04-175E-75D2-BF835944B1FD}"/>
              </a:ext>
            </a:extLst>
          </p:cNvPr>
          <p:cNvSpPr/>
          <p:nvPr/>
        </p:nvSpPr>
        <p:spPr>
          <a:xfrm>
            <a:off x="13722157" y="7695124"/>
            <a:ext cx="6105375" cy="523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answered</a:t>
            </a:r>
            <a:endParaRPr lang="en-US" sz="32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5DB72BE-6CE7-30C9-793B-3891B3D4881C}"/>
              </a:ext>
            </a:extLst>
          </p:cNvPr>
          <p:cNvSpPr/>
          <p:nvPr/>
        </p:nvSpPr>
        <p:spPr>
          <a:xfrm>
            <a:off x="12585396" y="943921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altLang="zh-TW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 40</a:t>
            </a:r>
            <a:endParaRPr lang="en-US" sz="54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3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B5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33687-B583-EB4C-1352-7D2A0489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54CFF0-0B83-9E49-9CF5-ACAA1D31883B}"/>
              </a:ext>
            </a:extLst>
          </p:cNvPr>
          <p:cNvSpPr/>
          <p:nvPr/>
        </p:nvSpPr>
        <p:spPr>
          <a:xfrm>
            <a:off x="-1579733" y="-1023733"/>
            <a:ext cx="21939360" cy="12334466"/>
          </a:xfrm>
          <a:custGeom>
            <a:avLst/>
            <a:gdLst/>
            <a:ahLst/>
            <a:cxnLst/>
            <a:rect l="l" t="t" r="r" b="b"/>
            <a:pathLst>
              <a:path w="21939360" h="12334466">
                <a:moveTo>
                  <a:pt x="0" y="0"/>
                </a:moveTo>
                <a:lnTo>
                  <a:pt x="21939360" y="0"/>
                </a:lnTo>
                <a:lnTo>
                  <a:pt x="21939360" y="12334466"/>
                </a:lnTo>
                <a:lnTo>
                  <a:pt x="0" y="1233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88062F2-2DE6-DF49-BB8F-F49903A68823}"/>
              </a:ext>
            </a:extLst>
          </p:cNvPr>
          <p:cNvGrpSpPr/>
          <p:nvPr/>
        </p:nvGrpSpPr>
        <p:grpSpPr>
          <a:xfrm>
            <a:off x="-750908" y="3329450"/>
            <a:ext cx="19182672" cy="7413494"/>
            <a:chOff x="0" y="0"/>
            <a:chExt cx="5052226" cy="169071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EC138AE-378B-2242-2F79-B080E906E08A}"/>
                </a:ext>
              </a:extLst>
            </p:cNvPr>
            <p:cNvSpPr/>
            <p:nvPr/>
          </p:nvSpPr>
          <p:spPr>
            <a:xfrm>
              <a:off x="0" y="0"/>
              <a:ext cx="5052226" cy="1690718"/>
            </a:xfrm>
            <a:custGeom>
              <a:avLst/>
              <a:gdLst/>
              <a:ahLst/>
              <a:cxnLst/>
              <a:rect l="l" t="t" r="r" b="b"/>
              <a:pathLst>
                <a:path w="5052226" h="1690718">
                  <a:moveTo>
                    <a:pt x="0" y="0"/>
                  </a:moveTo>
                  <a:lnTo>
                    <a:pt x="5052226" y="0"/>
                  </a:lnTo>
                  <a:lnTo>
                    <a:pt x="5052226" y="1690718"/>
                  </a:lnTo>
                  <a:lnTo>
                    <a:pt x="0" y="1690718"/>
                  </a:lnTo>
                  <a:close/>
                </a:path>
              </a:pathLst>
            </a:custGeom>
            <a:solidFill>
              <a:srgbClr val="F7F5E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E35B08-5386-7C64-E336-4B66A475E665}"/>
                </a:ext>
              </a:extLst>
            </p:cNvPr>
            <p:cNvSpPr txBox="1"/>
            <p:nvPr/>
          </p:nvSpPr>
          <p:spPr>
            <a:xfrm>
              <a:off x="0" y="76200"/>
              <a:ext cx="5052226" cy="161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32DF4E6-50E8-F20B-7FDE-8CB5631FA763}"/>
              </a:ext>
            </a:extLst>
          </p:cNvPr>
          <p:cNvGrpSpPr/>
          <p:nvPr/>
        </p:nvGrpSpPr>
        <p:grpSpPr>
          <a:xfrm>
            <a:off x="17259300" y="736945"/>
            <a:ext cx="2357981" cy="2357981"/>
            <a:chOff x="0" y="0"/>
            <a:chExt cx="673100" cy="6731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090565-2313-365D-3ABB-D3739956ADB3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3293036-BC4D-7395-9077-9604368C1311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7B077C3-38E1-B04F-8EA5-F5DBD85A1CB5}"/>
              </a:ext>
            </a:extLst>
          </p:cNvPr>
          <p:cNvGrpSpPr/>
          <p:nvPr/>
        </p:nvGrpSpPr>
        <p:grpSpPr>
          <a:xfrm>
            <a:off x="-1329281" y="1028700"/>
            <a:ext cx="2357981" cy="2357981"/>
            <a:chOff x="0" y="0"/>
            <a:chExt cx="673100" cy="6731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2CD0839-3E14-C41A-D55E-7B6F35540E85}"/>
                </a:ext>
              </a:extLst>
            </p:cNvPr>
            <p:cNvSpPr/>
            <p:nvPr/>
          </p:nvSpPr>
          <p:spPr>
            <a:xfrm>
              <a:off x="0" y="0"/>
              <a:ext cx="673100" cy="673100"/>
            </a:xfrm>
            <a:custGeom>
              <a:avLst/>
              <a:gdLst/>
              <a:ahLst/>
              <a:cxnLst/>
              <a:rect l="l" t="t" r="r" b="b"/>
              <a:pathLst>
                <a:path w="673100" h="673100">
                  <a:moveTo>
                    <a:pt x="530860" y="55880"/>
                  </a:moveTo>
                  <a:lnTo>
                    <a:pt x="471170" y="201930"/>
                  </a:lnTo>
                  <a:lnTo>
                    <a:pt x="617220" y="140970"/>
                  </a:lnTo>
                  <a:lnTo>
                    <a:pt x="673100" y="275590"/>
                  </a:lnTo>
                  <a:lnTo>
                    <a:pt x="527050" y="336550"/>
                  </a:lnTo>
                  <a:lnTo>
                    <a:pt x="673100" y="397510"/>
                  </a:lnTo>
                  <a:lnTo>
                    <a:pt x="617220" y="532130"/>
                  </a:lnTo>
                  <a:lnTo>
                    <a:pt x="471170" y="471170"/>
                  </a:lnTo>
                  <a:lnTo>
                    <a:pt x="530860" y="617220"/>
                  </a:lnTo>
                  <a:lnTo>
                    <a:pt x="396240" y="673100"/>
                  </a:lnTo>
                  <a:lnTo>
                    <a:pt x="336550" y="527050"/>
                  </a:lnTo>
                  <a:lnTo>
                    <a:pt x="275590" y="673100"/>
                  </a:lnTo>
                  <a:lnTo>
                    <a:pt x="140970" y="617220"/>
                  </a:lnTo>
                  <a:lnTo>
                    <a:pt x="201930" y="471170"/>
                  </a:lnTo>
                  <a:lnTo>
                    <a:pt x="55880" y="532130"/>
                  </a:lnTo>
                  <a:lnTo>
                    <a:pt x="0" y="397510"/>
                  </a:lnTo>
                  <a:lnTo>
                    <a:pt x="146050" y="336550"/>
                  </a:lnTo>
                  <a:lnTo>
                    <a:pt x="0" y="275590"/>
                  </a:lnTo>
                  <a:lnTo>
                    <a:pt x="55880" y="140970"/>
                  </a:lnTo>
                  <a:lnTo>
                    <a:pt x="201930" y="201930"/>
                  </a:lnTo>
                  <a:lnTo>
                    <a:pt x="140970" y="55880"/>
                  </a:lnTo>
                  <a:lnTo>
                    <a:pt x="275590" y="0"/>
                  </a:lnTo>
                  <a:lnTo>
                    <a:pt x="336550" y="146050"/>
                  </a:lnTo>
                  <a:lnTo>
                    <a:pt x="396240" y="0"/>
                  </a:lnTo>
                  <a:lnTo>
                    <a:pt x="530860" y="55880"/>
                  </a:lnTo>
                  <a:close/>
                </a:path>
              </a:pathLst>
            </a:custGeom>
            <a:solidFill>
              <a:srgbClr val="D3B5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696A325-E2E9-A0D1-1480-22DF52590593}"/>
                </a:ext>
              </a:extLst>
            </p:cNvPr>
            <p:cNvSpPr txBox="1"/>
            <p:nvPr/>
          </p:nvSpPr>
          <p:spPr>
            <a:xfrm>
              <a:off x="165100" y="241300"/>
              <a:ext cx="3429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4"/>
                </a:lnSpc>
              </a:pPr>
              <a:endParaRPr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8F84E603-8AE6-A53E-8EE5-B44C64FEB1D1}"/>
              </a:ext>
            </a:extLst>
          </p:cNvPr>
          <p:cNvSpPr txBox="1"/>
          <p:nvPr/>
        </p:nvSpPr>
        <p:spPr>
          <a:xfrm>
            <a:off x="1467637" y="1161382"/>
            <a:ext cx="15352725" cy="2359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sz="9999" b="1" dirty="0">
                <a:solidFill>
                  <a:srgbClr val="34322B"/>
                </a:solidFill>
                <a:latin typeface="Calmius Sans High Bold"/>
              </a:rPr>
              <a:t>If We Had More Time</a:t>
            </a:r>
            <a:endParaRPr lang="en-US" sz="9600" dirty="0"/>
          </a:p>
          <a:p>
            <a:pPr marL="0" lvl="0" indent="0" algn="ctr">
              <a:lnSpc>
                <a:spcPts val="8799"/>
              </a:lnSpc>
            </a:pPr>
            <a:endParaRPr lang="en-US" sz="9999" dirty="0">
              <a:solidFill>
                <a:srgbClr val="34322B"/>
              </a:solidFill>
              <a:latin typeface="Calmius Sans High Bold"/>
              <a:ea typeface="Calmius Sans High Bold"/>
              <a:cs typeface="Calmius Sans High Bold"/>
              <a:sym typeface="Calmius Sans High Bold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0435C16B-7E3D-6681-B5C7-D7E62E6C784E}"/>
              </a:ext>
            </a:extLst>
          </p:cNvPr>
          <p:cNvSpPr/>
          <p:nvPr/>
        </p:nvSpPr>
        <p:spPr>
          <a:xfrm>
            <a:off x="4530135" y="280830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372EF4C9-6072-963B-F3B6-E9AA0E323E5C}"/>
              </a:ext>
            </a:extLst>
          </p:cNvPr>
          <p:cNvSpPr/>
          <p:nvPr/>
        </p:nvSpPr>
        <p:spPr>
          <a:xfrm>
            <a:off x="2281402" y="4231102"/>
            <a:ext cx="14538960" cy="3959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14400" indent="-914400" algn="l">
              <a:buAutoNum type="arabicPlain"/>
            </a:pP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GB" altLang="zh-TW" sz="4800" dirty="0">
              <a:solidFill>
                <a:schemeClr val="accent2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914400" indent="-914400" algn="l">
              <a:buAutoNum type="arabicPlain"/>
            </a:pP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Implementing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BERT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or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LDA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for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better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text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understanding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and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context</a:t>
            </a:r>
            <a:r>
              <a:rPr lang="zh-TW" altLang="en-US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zh-TW" sz="4800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cs typeface="Calibri" pitchFamily="34" charset="-120"/>
              </a:rPr>
              <a:t>building</a:t>
            </a:r>
            <a:endParaRPr lang="en-US" sz="4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780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254</Words>
  <Application>Microsoft Macintosh PowerPoint</Application>
  <PresentationFormat>Custom</PresentationFormat>
  <Paragraphs>59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Wingdings</vt:lpstr>
      <vt:lpstr>Circe Bold</vt:lpstr>
      <vt:lpstr>Arial</vt:lpstr>
      <vt:lpstr>Calibri</vt:lpstr>
      <vt:lpstr>Aptos</vt:lpstr>
      <vt:lpstr>Calmius Sans High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2025</dc:title>
  <cp:lastModifiedBy>SU, MICHELLE Y. (Student)</cp:lastModifiedBy>
  <cp:revision>10</cp:revision>
  <dcterms:created xsi:type="dcterms:W3CDTF">2006-08-16T00:00:00Z</dcterms:created>
  <dcterms:modified xsi:type="dcterms:W3CDTF">2026-06-03T12:42:16Z</dcterms:modified>
  <dc:identifier>DAHLgOjhUd4</dc:identifier>
</cp:coreProperties>
</file>